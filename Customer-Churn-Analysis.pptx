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9-1.png"/><Relationship Id="rId8" Type="http://schemas.openxmlformats.org/officeDocument/2006/relationships/image" Target="../media/image-9-2.svg"/><Relationship Id="rId9" Type="http://schemas.openxmlformats.org/officeDocument/2006/relationships/image" Target="../media/image-9-1.png"/><Relationship Id="rId10" Type="http://schemas.openxmlformats.org/officeDocument/2006/relationships/image" Target="../media/image-9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70534"/>
            <a:ext cx="6296860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Churn Analysis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5233360" y="330368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Telecom Subscription Data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SQL · Excel · Power BI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818731"/>
            <a:ext cx="1376328" cy="287139"/>
          </a:xfrm>
          <a:prstGeom prst="roundRect">
            <a:avLst>
              <a:gd name="adj" fmla="val 22118"/>
            </a:avLst>
          </a:prstGeom>
          <a:solidFill>
            <a:srgbClr val="E0D7F4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3875385"/>
            <a:ext cx="175910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704142" y="3818731"/>
            <a:ext cx="1261634" cy="287139"/>
          </a:xfrm>
          <a:prstGeom prst="roundRect">
            <a:avLst>
              <a:gd name="adj" fmla="val 22118"/>
            </a:avLst>
          </a:prstGeom>
          <a:solidFill>
            <a:srgbClr val="E0D7F4"/>
          </a:solidFill>
          <a:ln/>
        </p:spPr>
      </p:sp>
      <p:sp>
        <p:nvSpPr>
          <p:cNvPr id="8" name="Text 5"/>
          <p:cNvSpPr/>
          <p:nvPr/>
        </p:nvSpPr>
        <p:spPr>
          <a:xfrm>
            <a:off x="6817547" y="3875385"/>
            <a:ext cx="16444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ANALYSIS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60230" y="3818731"/>
            <a:ext cx="1869433" cy="287139"/>
          </a:xfrm>
          <a:prstGeom prst="roundRect">
            <a:avLst>
              <a:gd name="adj" fmla="val 22118"/>
            </a:avLst>
          </a:prstGeom>
          <a:solidFill>
            <a:srgbClr val="E0D7F4"/>
          </a:solidFill>
          <a:ln/>
        </p:spPr>
      </p:sp>
      <p:sp>
        <p:nvSpPr>
          <p:cNvPr id="10" name="Text 7"/>
          <p:cNvSpPr/>
          <p:nvPr/>
        </p:nvSpPr>
        <p:spPr>
          <a:xfrm>
            <a:off x="8173635" y="3875385"/>
            <a:ext cx="22522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DASHBOARD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233360" y="4200327"/>
            <a:ext cx="1663956" cy="287139"/>
          </a:xfrm>
          <a:prstGeom prst="roundRect">
            <a:avLst>
              <a:gd name="adj" fmla="val 22118"/>
            </a:avLst>
          </a:prstGeom>
          <a:solidFill>
            <a:srgbClr val="E0D7F4"/>
          </a:solidFill>
          <a:ln/>
        </p:spPr>
      </p:sp>
      <p:sp>
        <p:nvSpPr>
          <p:cNvPr id="12" name="Text 9"/>
          <p:cNvSpPr/>
          <p:nvPr/>
        </p:nvSpPr>
        <p:spPr>
          <a:xfrm>
            <a:off x="5346765" y="4256980"/>
            <a:ext cx="20467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INSIGHTS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4952"/>
            <a:ext cx="6296860" cy="568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spc="-7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Overview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5233360" y="1350466"/>
            <a:ext cx="629686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customer data cleaned, explored via SQL, and visualized in Power BI to identify </a:t>
            </a:r>
            <a:pPr algn="l" indent="0" marL="0">
              <a:lnSpc>
                <a:spcPct val="125000"/>
              </a:lnSpc>
              <a:buNone/>
            </a:pPr>
            <a:r>
              <a:rPr lang="en-US" sz="1300" b="1" spc="-2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who is churning, why, and where to focus retention.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009279"/>
            <a:ext cx="6296860" cy="962422"/>
          </a:xfrm>
          <a:prstGeom prst="roundRect">
            <a:avLst>
              <a:gd name="adj" fmla="val 721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05005" y="2180927"/>
            <a:ext cx="5953571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Excel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405005" y="2552005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33360" y="3116362"/>
            <a:ext cx="6296860" cy="962422"/>
          </a:xfrm>
          <a:prstGeom prst="roundRect">
            <a:avLst>
              <a:gd name="adj" fmla="val 721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05005" y="3288010"/>
            <a:ext cx="5953571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5405005" y="3659088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Querying &amp; analysis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223445"/>
            <a:ext cx="6296860" cy="962422"/>
          </a:xfrm>
          <a:prstGeom prst="roundRect">
            <a:avLst>
              <a:gd name="adj" fmla="val 721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05005" y="4395093"/>
            <a:ext cx="5953571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05005" y="4766171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dashboard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5330527"/>
            <a:ext cx="6296860" cy="962422"/>
          </a:xfrm>
          <a:prstGeom prst="roundRect">
            <a:avLst>
              <a:gd name="adj" fmla="val 7218"/>
            </a:avLst>
          </a:prstGeom>
          <a:solidFill>
            <a:srgbClr val="E0D7F4"/>
          </a:solidFill>
          <a:ln w="6350">
            <a:solidFill>
              <a:srgbClr val="C6BD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05005" y="5502176"/>
            <a:ext cx="5953571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36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Jupyter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405005" y="5873254"/>
            <a:ext cx="595357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6808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Metrics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661475" y="2568972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442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428901"/>
            <a:ext cx="346542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Customers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363135" y="2568972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105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4363135" y="3428901"/>
            <a:ext cx="346542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Churned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64794" y="2568972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335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8064794" y="3428901"/>
            <a:ext cx="346542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Retained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12255" y="4226322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23.76%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2512255" y="5086251"/>
            <a:ext cx="346542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Churn Rate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3915" y="4226322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spc="-98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₹21.96M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6213915" y="5086251"/>
            <a:ext cx="346542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Revenue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920"/>
            <a:ext cx="10868745" cy="619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spc="-78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Dashboard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4935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broken down by contract type, subscription plan, internet service, tenure, state, and payment method.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61381"/>
            <a:ext cx="7041279" cy="3972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895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Contract &amp; Subscription Insights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22673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99059"/>
            <a:ext cx="5203794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332776" y="2513013"/>
            <a:ext cx="5203794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Two-Year contracts churn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most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long-term commitment isn't preventing churn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&amp; Premium subscribers churn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~2x more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Basic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6237C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High-value customers are at higher churn risk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895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Service Quality &amp; Customer Lifecycle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22673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99059"/>
            <a:ext cx="5203794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Service Quality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332776" y="2513013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Cable has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highest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churn (31.19%)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DSL has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lowest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churn (16.51%)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372941"/>
            <a:ext cx="5203794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Lifecycle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32776" y="3886895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peaks at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13–48 months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tenure (28.40%)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Beyond 4 years: only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13.9%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churn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Mid-term customers are the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6237C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priorities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67582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Behavioral &amp; Geographic Patterns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795290"/>
            <a:ext cx="1117572" cy="6906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22191"/>
            <a:ext cx="2539936" cy="64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Customers with Dependents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61475" y="4485481"/>
            <a:ext cx="25399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26.6%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unexpected trend worth deeper analysis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795290"/>
            <a:ext cx="1117572" cy="6906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722191"/>
            <a:ext cx="254003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 Support Usage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3437645" y="4160540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impact on churn —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strong retention driver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795290"/>
            <a:ext cx="1117572" cy="6906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722191"/>
            <a:ext cx="254003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Uttar Pradesh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6213915" y="4160540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regional churn: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27.96%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795290"/>
            <a:ext cx="1117572" cy="6906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722191"/>
            <a:ext cx="2540036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Maharashtra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8990184" y="4160540"/>
            <a:ext cx="254003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Lowest regional churn: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16.46%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2234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Analysis Approach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661475" y="1759942"/>
            <a:ext cx="11478330" cy="308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Cleaned dataset loaded into 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customer_churn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table — queried for churn rate, averages, and segment breakdowns.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81337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Analysis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Overall churn rate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% churned vs. total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Churn by contract &amp; internet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Segment comparisons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Churn by state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Highest-churn regions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Avg. charges &amp; tenure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Baseline customer profile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Top 10 high-value customers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Ranked by customer_value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Customers without tech support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spc="-30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Churn-driver review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DF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B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6877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Recommendations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15" y="1760438"/>
            <a:ext cx="283461" cy="2834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723" y="1754584"/>
            <a:ext cx="10254497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Target 13–48 month tenure window</a:t>
            </a:r>
            <a:endParaRPr lang="en-US" sz="2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15" y="2711351"/>
            <a:ext cx="283461" cy="2834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23" y="2705497"/>
            <a:ext cx="10254497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 Cable internet quality</a:t>
            </a:r>
            <a:endParaRPr lang="en-US" sz="2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315" y="3662263"/>
            <a:ext cx="283461" cy="2834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75723" y="3656409"/>
            <a:ext cx="10254497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Loyalty programs for Premium/Standard subscribers</a:t>
            </a:r>
            <a:endParaRPr lang="en-US" sz="2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315" y="4613176"/>
            <a:ext cx="283461" cy="2834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75723" y="4607322"/>
            <a:ext cx="10254497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Investigate Uttar Pradesh regional causes</a:t>
            </a:r>
            <a:endParaRPr lang="en-US" sz="2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2315" y="5564088"/>
            <a:ext cx="283461" cy="2834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275723" y="5558234"/>
            <a:ext cx="10254497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Design targeted offers for customers with dependents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813"/>
            <a:ext cx="10868745" cy="649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50" b="1" spc="-82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45977"/>
            <a:ext cx="6903269" cy="38990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32251" y="1691977"/>
            <a:ext cx="3504219" cy="324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spc="-41" kern="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Where Churn Concentrates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032251" y="2205930"/>
            <a:ext cx="3504219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Mid-tenure customers (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13–48 months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&amp; Standard subscribers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Cable internet users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High-churn states (e.g. Uttar Pradesh)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032251" y="4431308"/>
            <a:ext cx="3504219" cy="1644253"/>
          </a:xfrm>
          <a:prstGeom prst="roundRect">
            <a:avLst>
              <a:gd name="adj" fmla="val 4828"/>
            </a:avLst>
          </a:prstGeom>
          <a:solidFill>
            <a:srgbClr val="E0D7F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58" y="4718050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46499" y="4648597"/>
            <a:ext cx="27009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retention in these segments offers the clearest path to reducing the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6237C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23.76% churn rate.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2026-09-17T09:55:51Z</dcterms:created>
  <dcterms:modified xsi:type="dcterms:W3CDTF">2026-09-17T09:55:51Z</dcterms:modified>
</cp:coreProperties>
</file>